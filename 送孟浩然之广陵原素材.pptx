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470" r:id="rId3"/>
    <p:sldId id="353" r:id="rId5"/>
    <p:sldId id="471" r:id="rId6"/>
    <p:sldId id="352" r:id="rId7"/>
    <p:sldId id="513" r:id="rId8"/>
    <p:sldId id="497" r:id="rId9"/>
    <p:sldId id="537" r:id="rId10"/>
    <p:sldId id="494" r:id="rId11"/>
    <p:sldId id="514" r:id="rId12"/>
    <p:sldId id="515" r:id="rId13"/>
    <p:sldId id="516" r:id="rId14"/>
    <p:sldId id="517" r:id="rId15"/>
    <p:sldId id="518" r:id="rId16"/>
    <p:sldId id="519" r:id="rId17"/>
    <p:sldId id="520" r:id="rId18"/>
    <p:sldId id="521" r:id="rId19"/>
    <p:sldId id="523" r:id="rId20"/>
    <p:sldId id="539" r:id="rId21"/>
    <p:sldId id="501" r:id="rId22"/>
    <p:sldId id="502" r:id="rId23"/>
    <p:sldId id="511" r:id="rId24"/>
    <p:sldId id="524" r:id="rId25"/>
    <p:sldId id="525" r:id="rId26"/>
    <p:sldId id="526" r:id="rId27"/>
    <p:sldId id="540" r:id="rId28"/>
    <p:sldId id="499" r:id="rId29"/>
    <p:sldId id="527" r:id="rId30"/>
    <p:sldId id="297" r:id="rId31"/>
  </p:sldIdLst>
  <p:sldSz cx="12190095" cy="685927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FBFBF"/>
    <a:srgbClr val="990033"/>
    <a:srgbClr val="6B6B6B"/>
    <a:srgbClr val="D72326"/>
    <a:srgbClr val="3296A8"/>
    <a:srgbClr val="6D8AAB"/>
    <a:srgbClr val="31709C"/>
    <a:srgbClr val="7697B3"/>
    <a:srgbClr val="6FA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97778" autoAdjust="0"/>
  </p:normalViewPr>
  <p:slideViewPr>
    <p:cSldViewPr snapToGrid="0" showGuides="1">
      <p:cViewPr varScale="1">
        <p:scale>
          <a:sx n="66" d="100"/>
          <a:sy n="66" d="100"/>
        </p:scale>
        <p:origin x="-472" y="-72"/>
      </p:cViewPr>
      <p:guideLst>
        <p:guide orient="horz" pos="2120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744" y="-84"/>
      </p:cViewPr>
      <p:guideLst>
        <p:guide orient="horz" pos="2826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1A18B-437A-4AD1-925A-798B658B7B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3D761-9138-40BA-BFB9-7E8FFB2B805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2C8C0-A3D3-487B-AECC-CB6663EAE2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49D3E0-124D-4DFF-AE99-4EA4CC201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背景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8260" y="-26035"/>
            <a:ext cx="12372975" cy="6960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 descr="背景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0" y="635"/>
            <a:ext cx="12227560" cy="6878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091" y="1826048"/>
            <a:ext cx="5180926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1396" y="1826048"/>
            <a:ext cx="5180926" cy="435234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80" y="365211"/>
            <a:ext cx="10514231" cy="13258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679" y="1681553"/>
            <a:ext cx="5157116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679" y="2505656"/>
            <a:ext cx="5157116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1398" y="1681553"/>
            <a:ext cx="5182513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1398" y="2505656"/>
            <a:ext cx="5182513" cy="3685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背景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715" y="-13970"/>
            <a:ext cx="12279630" cy="693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7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2514" y="987654"/>
            <a:ext cx="6171397" cy="48747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679" y="457307"/>
            <a:ext cx="3931725" cy="16005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2514" y="987654"/>
            <a:ext cx="6171397" cy="487475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679" y="2057877"/>
            <a:ext cx="3931725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3764" y="365209"/>
            <a:ext cx="2628558" cy="58131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092" y="365209"/>
            <a:ext cx="7733293" cy="581318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092" y="365211"/>
            <a:ext cx="10514231" cy="132587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92" y="1826048"/>
            <a:ext cx="10514231" cy="4352346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092" y="6357823"/>
            <a:ext cx="2742843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388EF-52D1-4258-9BE5-BCD010C7D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480" y="6357823"/>
            <a:ext cx="2742843" cy="365210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EE65E-57D2-4566-898C-4F2076833F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5.xml"/><Relationship Id="rId3" Type="http://schemas.openxmlformats.org/officeDocument/2006/relationships/slide" Target="slide18.xml"/><Relationship Id="rId2" Type="http://schemas.openxmlformats.org/officeDocument/2006/relationships/slide" Target="slide7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>
            <a:off x="5508368" y="815036"/>
            <a:ext cx="0" cy="3856783"/>
          </a:xfrm>
          <a:prstGeom prst="line">
            <a:avLst/>
          </a:prstGeom>
          <a:ln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_14"/>
          <p:cNvSpPr txBox="1">
            <a:spLocks noChangeArrowheads="1"/>
          </p:cNvSpPr>
          <p:nvPr/>
        </p:nvSpPr>
        <p:spPr bwMode="auto">
          <a:xfrm>
            <a:off x="6252171" y="972031"/>
            <a:ext cx="895832" cy="2571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人教版小学语文</a:t>
            </a:r>
            <a:endParaRPr lang="en-US" altLang="zh-CN" dirty="0">
              <a:solidFill>
                <a:schemeClr val="accent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四年级上册</a:t>
            </a:r>
            <a:endParaRPr lang="zh-CN" altLang="en-US" dirty="0">
              <a:solidFill>
                <a:schemeClr val="accent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Box 1"/>
          <p:cNvSpPr txBox="1">
            <a:spLocks noChangeArrowheads="1"/>
          </p:cNvSpPr>
          <p:nvPr/>
        </p:nvSpPr>
        <p:spPr bwMode="auto">
          <a:xfrm>
            <a:off x="4531800" y="767837"/>
            <a:ext cx="736600" cy="4355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latin typeface="华文隶书" panose="02010800040101010101" pitchFamily="2" charset="-122"/>
                <a:ea typeface="华文隶书" panose="02010800040101010101" pitchFamily="2" charset="-122"/>
              </a:rPr>
              <a:t>送孟浩然之广陵</a:t>
            </a:r>
            <a:endParaRPr lang="zh-CN" altLang="en-US" sz="36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21717" y="3432640"/>
            <a:ext cx="589287" cy="1476157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李白</a:t>
            </a:r>
            <a:endParaRPr lang="zh-CN" alt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81200" y="5112140"/>
            <a:ext cx="3579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主讲人：**            单位名称：****</a:t>
            </a:r>
            <a:endParaRPr lang="zh-CN" altLang="en-US" dirty="0"/>
          </a:p>
        </p:txBody>
      </p:sp>
      <p:pic>
        <p:nvPicPr>
          <p:cNvPr id="3" name="图片 2" descr="印章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215" y="4041775"/>
            <a:ext cx="682625" cy="743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 animBg="1"/>
      <p:bldP spid="12" grpId="1" animBg="1"/>
      <p:bldP spid="14" grpId="1"/>
      <p:bldP spid="15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330994" y="1435041"/>
            <a:ext cx="3360761" cy="732230"/>
            <a:chOff x="1491415" y="2381173"/>
            <a:chExt cx="3360761" cy="732230"/>
          </a:xfrm>
        </p:grpSpPr>
        <p:sp>
          <p:nvSpPr>
            <p:cNvPr id="18" name="_14"/>
            <p:cNvSpPr txBox="1">
              <a:spLocks noChangeArrowheads="1"/>
            </p:cNvSpPr>
            <p:nvPr/>
          </p:nvSpPr>
          <p:spPr bwMode="auto">
            <a:xfrm>
              <a:off x="1491415" y="2381173"/>
              <a:ext cx="1123680" cy="7322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/>
              <a:r>
                <a:rPr lang="en-US" altLang="zh-CN" sz="36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01</a:t>
              </a:r>
              <a:endParaRPr lang="en-US" altLang="zh-CN" sz="36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9" name="矩形 18">
              <a:hlinkClick r:id="rId1" tooltip="" action="ppaction://hlinksldjump"/>
            </p:cNvPr>
            <p:cNvSpPr/>
            <p:nvPr/>
          </p:nvSpPr>
          <p:spPr bwMode="auto">
            <a:xfrm>
              <a:off x="2952771" y="2450170"/>
              <a:ext cx="1899405" cy="5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sz="32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课文导读</a:t>
              </a:r>
              <a:endParaRPr lang="zh-CN" altLang="en-US" sz="3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2588765" y="1481583"/>
            <a:ext cx="914832" cy="14926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3600" b="1" dirty="0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目</a:t>
            </a:r>
            <a:endParaRPr lang="en-US" altLang="zh-CN" sz="3600" b="1" dirty="0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lvl="0" algn="ctr"/>
            <a:r>
              <a:rPr lang="zh-CN" altLang="en-US" sz="3600" b="1" dirty="0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录</a:t>
            </a:r>
            <a:endParaRPr lang="zh-CN" altLang="en-US" sz="3600" b="1" dirty="0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330994" y="2447548"/>
            <a:ext cx="3360761" cy="732230"/>
            <a:chOff x="1491415" y="2381173"/>
            <a:chExt cx="3360761" cy="732230"/>
          </a:xfrm>
        </p:grpSpPr>
        <p:sp>
          <p:nvSpPr>
            <p:cNvPr id="22" name="_14"/>
            <p:cNvSpPr txBox="1">
              <a:spLocks noChangeArrowheads="1"/>
            </p:cNvSpPr>
            <p:nvPr/>
          </p:nvSpPr>
          <p:spPr bwMode="auto">
            <a:xfrm>
              <a:off x="1491415" y="2381173"/>
              <a:ext cx="1123680" cy="732230"/>
            </a:xfrm>
            <a:prstGeom prst="rect">
              <a:avLst/>
            </a:prstGeom>
            <a:noFill/>
            <a:ln w="9525">
              <a:solidFill>
                <a:srgbClr val="7C5C50"/>
              </a:solidFill>
              <a:miter lim="800000"/>
            </a:ln>
            <a:effectLst/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/>
              <a:r>
                <a:rPr lang="en-US" altLang="zh-CN" sz="36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02</a:t>
              </a:r>
              <a:endParaRPr lang="zh-CN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>
              <a:hlinkClick r:id="rId2" tooltip="" action="ppaction://hlinksldjump"/>
            </p:cNvPr>
            <p:cNvSpPr/>
            <p:nvPr/>
          </p:nvSpPr>
          <p:spPr bwMode="auto">
            <a:xfrm>
              <a:off x="2952771" y="2450170"/>
              <a:ext cx="1899405" cy="5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/>
              <a:r>
                <a:rPr lang="zh-CN" altLang="en-US" sz="3200" noProof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字词乐园</a:t>
              </a:r>
              <a:endParaRPr lang="zh-CN" altLang="en-US" sz="3200" noProof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320199" y="3498790"/>
            <a:ext cx="3360761" cy="732230"/>
            <a:chOff x="1491415" y="2381173"/>
            <a:chExt cx="3360761" cy="732230"/>
          </a:xfrm>
        </p:grpSpPr>
        <p:sp>
          <p:nvSpPr>
            <p:cNvPr id="25" name="_14"/>
            <p:cNvSpPr txBox="1">
              <a:spLocks noChangeArrowheads="1"/>
            </p:cNvSpPr>
            <p:nvPr/>
          </p:nvSpPr>
          <p:spPr bwMode="auto">
            <a:xfrm>
              <a:off x="1491415" y="2381173"/>
              <a:ext cx="1123680" cy="732230"/>
            </a:xfrm>
            <a:prstGeom prst="rect">
              <a:avLst/>
            </a:prstGeom>
            <a:noFill/>
            <a:ln w="9525">
              <a:solidFill>
                <a:srgbClr val="7C5C50"/>
              </a:solidFill>
              <a:miter lim="800000"/>
            </a:ln>
            <a:effectLst/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/>
              <a:r>
                <a:rPr lang="en-US" altLang="zh-CN" sz="36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03</a:t>
              </a:r>
              <a:endParaRPr lang="en-US" altLang="zh-CN" sz="36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6" name="矩形 25">
              <a:hlinkClick r:id="rId3" tooltip="" action="ppaction://hlinksldjump"/>
            </p:cNvPr>
            <p:cNvSpPr/>
            <p:nvPr/>
          </p:nvSpPr>
          <p:spPr bwMode="auto">
            <a:xfrm>
              <a:off x="2952771" y="2450170"/>
              <a:ext cx="1899405" cy="5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sz="3200" noProof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课文详解</a:t>
              </a:r>
              <a:endParaRPr lang="zh-CN" altLang="en-US" sz="3200" noProof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320199" y="4493518"/>
            <a:ext cx="3447389" cy="732230"/>
            <a:chOff x="1491415" y="2381173"/>
            <a:chExt cx="3447389" cy="732230"/>
          </a:xfrm>
        </p:grpSpPr>
        <p:sp>
          <p:nvSpPr>
            <p:cNvPr id="28" name="_14"/>
            <p:cNvSpPr txBox="1">
              <a:spLocks noChangeArrowheads="1"/>
            </p:cNvSpPr>
            <p:nvPr/>
          </p:nvSpPr>
          <p:spPr bwMode="auto">
            <a:xfrm>
              <a:off x="1491415" y="2381173"/>
              <a:ext cx="1123680" cy="732230"/>
            </a:xfrm>
            <a:prstGeom prst="rect">
              <a:avLst/>
            </a:prstGeom>
            <a:noFill/>
            <a:ln w="9525">
              <a:solidFill>
                <a:srgbClr val="7C5C50"/>
              </a:solidFill>
              <a:miter lim="800000"/>
            </a:ln>
            <a:effectLst/>
          </p:spPr>
          <p:txBody>
            <a:bodyPr vert="horz" wrap="square" lIns="91440" tIns="45720" rIns="91440" bIns="45720" numCol="1" anchor="ctr" anchorCtr="0" compatLnSpc="1"/>
            <a:lstStyle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accent2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4572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9144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13716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1828800" algn="l" rtl="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algn="ctr"/>
              <a:r>
                <a:rPr lang="en-US" altLang="zh-CN" sz="3600" b="1" dirty="0">
                  <a:solidFill>
                    <a:schemeClr val="tx1"/>
                  </a:solidFill>
                  <a:latin typeface="黑体" panose="02010609060101010101" charset="-122"/>
                  <a:ea typeface="黑体" panose="02010609060101010101" charset="-122"/>
                </a:rPr>
                <a:t>04</a:t>
              </a:r>
              <a:endParaRPr lang="zh-CN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hlinkClick r:id="rId4" tooltip="" action="ppaction://hlinksldjump"/>
            </p:cNvPr>
            <p:cNvSpPr/>
            <p:nvPr/>
          </p:nvSpPr>
          <p:spPr bwMode="auto">
            <a:xfrm>
              <a:off x="2952772" y="2472395"/>
              <a:ext cx="1986032" cy="5496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sz="3200" noProof="1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随堂练习</a:t>
              </a:r>
              <a:endParaRPr lang="zh-CN" altLang="en-US" sz="3200" noProof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66407" y="1821036"/>
            <a:ext cx="3865562" cy="72326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zh-CN" altLang="en-US" sz="4700" b="1" noProof="1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课文导读</a:t>
            </a:r>
            <a:endParaRPr lang="zh-CN" altLang="en-US" sz="4700" b="1" noProof="1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975789" y="3082617"/>
            <a:ext cx="53835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noProof="1">
                <a:sym typeface="Arial" panose="020B0604020202020204" pitchFamily="34" charset="0"/>
              </a:rPr>
              <a:t>添加相关标题文字添加相关标题文字相关标题文字</a:t>
            </a:r>
            <a:endParaRPr lang="en-US" altLang="zh-CN" noProof="1">
              <a:sym typeface="Arial" panose="020B0604020202020204" pitchFamily="34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4975789" y="3360202"/>
            <a:ext cx="53835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noProof="1">
                <a:sym typeface="Arial" panose="020B0604020202020204" pitchFamily="34" charset="0"/>
              </a:rPr>
              <a:t>添加相关标题文字添加相关标题文字相关标题文字</a:t>
            </a:r>
            <a:endParaRPr lang="en-US" altLang="zh-CN" noProof="1"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59602" y="1686902"/>
            <a:ext cx="1278846" cy="2048606"/>
          </a:xfrm>
          <a:prstGeom prst="rect">
            <a:avLst/>
          </a:prstGeom>
          <a:noFill/>
          <a:ln w="12700">
            <a:solidFill>
              <a:srgbClr val="7C5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4700" b="1">
                <a:ln>
                  <a:solidFill>
                    <a:schemeClr val="tx1"/>
                  </a:solidFill>
                </a:ln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en-US" altLang="zh-CN" sz="4700" b="1">
              <a:ln>
                <a:solidFill>
                  <a:schemeClr val="tx1"/>
                </a:solidFill>
              </a:ln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487153" y="1701171"/>
            <a:ext cx="5129511" cy="4061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李白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（公元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701--762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年），字太白，号青莲居士，是唐代伟大的浪漫主义诗人，被后人誉为“诗仙”。存世诗文千余篇，代表作有《蜀道难》《行路难》《梦游天姥吟留别》《将进酒》等诗篇，有《李太白集》传世。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8389" y="2219291"/>
            <a:ext cx="798195" cy="2611120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0"/>
          </a:effectLst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 </a:t>
            </a:r>
            <a:r>
              <a:rPr lang="zh-CN" altLang="en-US" sz="4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作者简介</a:t>
            </a:r>
            <a:endParaRPr lang="zh-CN" altLang="en-US" sz="4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" name="图片 1" descr="李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380" y="1358265"/>
            <a:ext cx="2435225" cy="4142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329521" y="1513925"/>
            <a:ext cx="7100887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4000" dirty="0" smtClean="0">
                <a:solidFill>
                  <a:srgbClr val="990033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黄鹤楼</a:t>
            </a:r>
            <a:r>
              <a:rPr lang="zh-CN" altLang="en-US" sz="4000" dirty="0">
                <a:solidFill>
                  <a:srgbClr val="990033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送孟浩然之广</a:t>
            </a:r>
            <a:r>
              <a:rPr lang="zh-CN" altLang="en-US" sz="4000" dirty="0" smtClean="0">
                <a:solidFill>
                  <a:srgbClr val="990033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陵</a:t>
            </a:r>
            <a:endParaRPr lang="en-US" altLang="zh-CN" sz="4000" dirty="0" smtClean="0">
              <a:solidFill>
                <a:srgbClr val="990033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marL="0"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3600" dirty="0" smtClean="0">
                <a:solidFill>
                  <a:srgbClr val="990000"/>
                </a:solidFill>
              </a:rPr>
              <a:t>（</a:t>
            </a:r>
            <a:r>
              <a:rPr lang="zh-CN" altLang="en-US" sz="3600" dirty="0">
                <a:solidFill>
                  <a:srgbClr val="990000"/>
                </a:solidFill>
              </a:rPr>
              <a:t>唐）</a:t>
            </a:r>
            <a:r>
              <a:rPr lang="zh-CN" altLang="en-US" sz="3600" dirty="0" smtClean="0">
                <a:solidFill>
                  <a:srgbClr val="990000"/>
                </a:solidFill>
              </a:rPr>
              <a:t>李白</a:t>
            </a:r>
            <a:endParaRPr lang="zh-CN" altLang="en-US" sz="3600" dirty="0">
              <a:solidFill>
                <a:srgbClr val="990000"/>
              </a:solidFill>
            </a:endParaRPr>
          </a:p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990000"/>
                </a:solidFill>
              </a:rPr>
              <a:t>故 </a:t>
            </a:r>
            <a:r>
              <a:rPr lang="zh-CN" altLang="en-US" sz="3600" b="1" dirty="0">
                <a:solidFill>
                  <a:srgbClr val="990000"/>
                </a:solidFill>
              </a:rPr>
              <a:t>人 </a:t>
            </a:r>
            <a:r>
              <a:rPr lang="en-US" altLang="zh-CN" sz="3600" b="1" dirty="0">
                <a:solidFill>
                  <a:srgbClr val="990000"/>
                </a:solidFill>
              </a:rPr>
              <a:t>︱</a:t>
            </a:r>
            <a:r>
              <a:rPr lang="zh-CN" altLang="en-US" sz="3600" b="1" dirty="0">
                <a:solidFill>
                  <a:srgbClr val="990000"/>
                </a:solidFill>
              </a:rPr>
              <a:t>西 辞 </a:t>
            </a:r>
            <a:r>
              <a:rPr lang="en-US" altLang="zh-CN" sz="3600" b="1" dirty="0">
                <a:solidFill>
                  <a:srgbClr val="990000"/>
                </a:solidFill>
              </a:rPr>
              <a:t>︱</a:t>
            </a:r>
            <a:r>
              <a:rPr lang="zh-CN" altLang="en-US" sz="3600" b="1" dirty="0">
                <a:solidFill>
                  <a:srgbClr val="990000"/>
                </a:solidFill>
              </a:rPr>
              <a:t>黄 鹤 楼，</a:t>
            </a:r>
            <a:endParaRPr lang="zh-CN" altLang="en-US" sz="3600" b="1" dirty="0">
              <a:solidFill>
                <a:srgbClr val="990000"/>
              </a:solidFill>
            </a:endParaRPr>
          </a:p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990000"/>
                </a:solidFill>
              </a:rPr>
              <a:t>烟 </a:t>
            </a:r>
            <a:r>
              <a:rPr lang="zh-CN" altLang="en-US" sz="3600" b="1" dirty="0">
                <a:solidFill>
                  <a:srgbClr val="990000"/>
                </a:solidFill>
              </a:rPr>
              <a:t>花 </a:t>
            </a:r>
            <a:r>
              <a:rPr lang="en-US" altLang="zh-CN" sz="3600" b="1" dirty="0">
                <a:solidFill>
                  <a:srgbClr val="990000"/>
                </a:solidFill>
              </a:rPr>
              <a:t>︱</a:t>
            </a:r>
            <a:r>
              <a:rPr lang="zh-CN" altLang="en-US" sz="3600" b="1" dirty="0">
                <a:solidFill>
                  <a:srgbClr val="990000"/>
                </a:solidFill>
              </a:rPr>
              <a:t>三 月 </a:t>
            </a:r>
            <a:r>
              <a:rPr lang="en-US" altLang="zh-CN" sz="3600" b="1" dirty="0">
                <a:solidFill>
                  <a:srgbClr val="990000"/>
                </a:solidFill>
              </a:rPr>
              <a:t>︱</a:t>
            </a:r>
            <a:r>
              <a:rPr lang="zh-CN" altLang="en-US" sz="3600" b="1" dirty="0">
                <a:solidFill>
                  <a:srgbClr val="990000"/>
                </a:solidFill>
              </a:rPr>
              <a:t>下 扬 州。</a:t>
            </a:r>
            <a:endParaRPr lang="zh-CN" altLang="en-US" sz="3600" b="1" dirty="0">
              <a:solidFill>
                <a:srgbClr val="990000"/>
              </a:solidFill>
            </a:endParaRPr>
          </a:p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990000"/>
                </a:solidFill>
              </a:rPr>
              <a:t>孤 </a:t>
            </a:r>
            <a:r>
              <a:rPr lang="zh-CN" altLang="en-US" sz="3600" b="1" dirty="0">
                <a:solidFill>
                  <a:srgbClr val="990000"/>
                </a:solidFill>
              </a:rPr>
              <a:t>帆 </a:t>
            </a:r>
            <a:r>
              <a:rPr lang="en-US" altLang="zh-CN" sz="3600" b="1" dirty="0">
                <a:solidFill>
                  <a:srgbClr val="990000"/>
                </a:solidFill>
              </a:rPr>
              <a:t>︱</a:t>
            </a:r>
            <a:r>
              <a:rPr lang="zh-CN" altLang="en-US" sz="3600" b="1" dirty="0">
                <a:solidFill>
                  <a:srgbClr val="990000"/>
                </a:solidFill>
              </a:rPr>
              <a:t>远  影</a:t>
            </a:r>
            <a:r>
              <a:rPr lang="en-US" altLang="zh-CN" sz="3600" b="1" dirty="0">
                <a:solidFill>
                  <a:srgbClr val="990000"/>
                </a:solidFill>
              </a:rPr>
              <a:t>︱ </a:t>
            </a:r>
            <a:r>
              <a:rPr lang="zh-CN" altLang="en-US" sz="3600" b="1" dirty="0">
                <a:solidFill>
                  <a:srgbClr val="990000"/>
                </a:solidFill>
              </a:rPr>
              <a:t>碧 空 尽，</a:t>
            </a:r>
            <a:endParaRPr lang="zh-CN" altLang="en-US" sz="3600" b="1" dirty="0">
              <a:solidFill>
                <a:srgbClr val="990000"/>
              </a:solidFill>
            </a:endParaRPr>
          </a:p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990000"/>
                </a:solidFill>
              </a:rPr>
              <a:t>唯 </a:t>
            </a:r>
            <a:r>
              <a:rPr lang="zh-CN" altLang="en-US" sz="3600" b="1" dirty="0">
                <a:solidFill>
                  <a:srgbClr val="990000"/>
                </a:solidFill>
              </a:rPr>
              <a:t>见 </a:t>
            </a:r>
            <a:r>
              <a:rPr lang="en-US" altLang="zh-CN" sz="3600" b="1" dirty="0">
                <a:solidFill>
                  <a:srgbClr val="990000"/>
                </a:solidFill>
              </a:rPr>
              <a:t>︱</a:t>
            </a:r>
            <a:r>
              <a:rPr lang="zh-CN" altLang="en-US" sz="3600" b="1" dirty="0">
                <a:solidFill>
                  <a:srgbClr val="990000"/>
                </a:solidFill>
              </a:rPr>
              <a:t>长 江 </a:t>
            </a:r>
            <a:r>
              <a:rPr lang="en-US" altLang="zh-CN" sz="3600" b="1" dirty="0">
                <a:solidFill>
                  <a:srgbClr val="990000"/>
                </a:solidFill>
              </a:rPr>
              <a:t>︱</a:t>
            </a:r>
            <a:r>
              <a:rPr lang="zh-CN" altLang="en-US" sz="3600" b="1" dirty="0">
                <a:solidFill>
                  <a:srgbClr val="990000"/>
                </a:solidFill>
              </a:rPr>
              <a:t>天 际 </a:t>
            </a:r>
            <a:r>
              <a:rPr lang="zh-CN" altLang="en-US" sz="3600" b="1" dirty="0" smtClean="0">
                <a:solidFill>
                  <a:srgbClr val="990000"/>
                </a:solidFill>
              </a:rPr>
              <a:t>流</a:t>
            </a:r>
            <a:r>
              <a:rPr lang="zh-CN" altLang="en-US" sz="3600" b="1" dirty="0">
                <a:solidFill>
                  <a:srgbClr val="990000"/>
                </a:solidFill>
              </a:rPr>
              <a:t>。</a:t>
            </a:r>
            <a:endParaRPr lang="zh-CN" altLang="en-US" sz="3600" b="1" dirty="0">
              <a:solidFill>
                <a:srgbClr val="990000"/>
              </a:solidFill>
            </a:endParaRPr>
          </a:p>
        </p:txBody>
      </p:sp>
      <p:pic>
        <p:nvPicPr>
          <p:cNvPr id="2" name="图片 1" descr="C:/Users/asus/AppData/Local/Temp/kaimatting_20210816155244/output_20210816155317..pngoutput_20210816155317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" y="968375"/>
            <a:ext cx="12047220" cy="5104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22516" y="2242938"/>
            <a:ext cx="798195" cy="2611120"/>
          </a:xfrm>
          <a:prstGeom prst="rect">
            <a:avLst/>
          </a:prstGeom>
          <a:solidFill>
            <a:schemeClr val="bg1">
              <a:lumMod val="5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0"/>
          </a:effectLst>
        </p:spPr>
        <p:txBody>
          <a:bodyPr vert="eaVert" wrap="square" rtlCol="0">
            <a:spAutoFit/>
          </a:bodyPr>
          <a:lstStyle/>
          <a:p>
            <a:r>
              <a:rPr lang="zh-CN" altLang="en-US" sz="4000" dirty="0">
                <a:latin typeface="华文隶书" panose="02010800040101010101" pitchFamily="2" charset="-122"/>
                <a:ea typeface="华文隶书" panose="02010800040101010101" pitchFamily="2" charset="-122"/>
              </a:rPr>
              <a:t>创作背景</a:t>
            </a:r>
            <a:endParaRPr lang="zh-CN" altLang="en-US" sz="40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9" name="Rectangle 6"/>
          <p:cNvSpPr txBox="1">
            <a:spLocks noChangeArrowheads="1"/>
          </p:cNvSpPr>
          <p:nvPr/>
        </p:nvSpPr>
        <p:spPr bwMode="auto">
          <a:xfrm>
            <a:off x="5616290" y="1512177"/>
            <a:ext cx="4970931" cy="449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微软雅黑" panose="020B0503020204020204" pitchFamily="34" charset="-122"/>
              </a:rPr>
              <a:t>孟浩然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是唐代著名的 诗人，他和李白是好朋友。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  <a:cs typeface="微软雅黑" panose="020B0503020204020204" pitchFamily="34" charset="-122"/>
              </a:rPr>
              <a:t>广陵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是现在的江苏省扬州市。“之”是“去”的意思。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公元</a:t>
            </a:r>
            <a:r>
              <a:rPr lang="en-US" altLang="zh-CN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726</a:t>
            </a:r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年，李白在黄鹤楼送孟浩然去扬州，写了这首诗。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 descr="孟浩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650" y="1202690"/>
            <a:ext cx="3438525" cy="4048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66407" y="1821036"/>
            <a:ext cx="3865562" cy="72326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zh-CN" altLang="en-US" sz="4700" b="1" noProof="1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字词乐园</a:t>
            </a:r>
            <a:endParaRPr lang="zh-CN" altLang="en-US" sz="4700" b="1" noProof="1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975789" y="3082617"/>
            <a:ext cx="54361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noProof="1">
                <a:sym typeface="Arial" panose="020B0604020202020204" pitchFamily="34" charset="0"/>
              </a:rPr>
              <a:t>添加相关标题文字添加相关标题文字相关标题文字</a:t>
            </a:r>
            <a:endParaRPr lang="en-US" altLang="zh-CN" noProof="1">
              <a:sym typeface="Arial" panose="020B0604020202020204" pitchFamily="34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4975789" y="3360202"/>
            <a:ext cx="54361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noProof="1">
                <a:sym typeface="Arial" panose="020B0604020202020204" pitchFamily="34" charset="0"/>
              </a:rPr>
              <a:t>添加相关标题文字添加相关标题文字相关标题文字</a:t>
            </a:r>
            <a:endParaRPr lang="en-US" altLang="zh-CN" noProof="1"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59602" y="1686902"/>
            <a:ext cx="1278846" cy="2048606"/>
          </a:xfrm>
          <a:prstGeom prst="rect">
            <a:avLst/>
          </a:prstGeom>
          <a:noFill/>
          <a:ln w="12700">
            <a:solidFill>
              <a:srgbClr val="7C5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4700" b="1">
                <a:ln>
                  <a:solidFill>
                    <a:schemeClr val="tx1"/>
                  </a:solidFill>
                </a:ln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lang="en-US" altLang="zh-CN" sz="4700" b="1">
              <a:ln>
                <a:solidFill>
                  <a:schemeClr val="tx1"/>
                </a:solidFill>
              </a:ln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188085" y="3244850"/>
            <a:ext cx="2178685" cy="2178050"/>
            <a:chOff x="1687" y="4088"/>
            <a:chExt cx="3431" cy="3430"/>
          </a:xfrm>
        </p:grpSpPr>
        <p:sp>
          <p:nvSpPr>
            <p:cNvPr id="3" name="矩形 2"/>
            <p:cNvSpPr/>
            <p:nvPr/>
          </p:nvSpPr>
          <p:spPr>
            <a:xfrm>
              <a:off x="1687" y="4088"/>
              <a:ext cx="3431" cy="343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" name="直接连接符 4"/>
            <p:cNvCxnSpPr>
              <a:endCxn id="3" idx="3"/>
            </p:cNvCxnSpPr>
            <p:nvPr/>
          </p:nvCxnSpPr>
          <p:spPr>
            <a:xfrm flipV="1">
              <a:off x="1884" y="5804"/>
              <a:ext cx="3234" cy="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>
              <a:stCxn id="3" idx="0"/>
              <a:endCxn id="3" idx="2"/>
            </p:cNvCxnSpPr>
            <p:nvPr/>
          </p:nvCxnSpPr>
          <p:spPr>
            <a:xfrm>
              <a:off x="3403" y="4088"/>
              <a:ext cx="0" cy="343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5"/>
          <p:cNvGrpSpPr/>
          <p:nvPr/>
        </p:nvGrpSpPr>
        <p:grpSpPr bwMode="auto">
          <a:xfrm>
            <a:off x="1486693" y="1268413"/>
            <a:ext cx="2071687" cy="661987"/>
            <a:chOff x="571127" y="1769573"/>
            <a:chExt cx="2071702" cy="661806"/>
          </a:xfrm>
        </p:grpSpPr>
        <p:cxnSp>
          <p:nvCxnSpPr>
            <p:cNvPr id="15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同侧圆角矩形 15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17" name="同侧圆角矩形 16"/>
          <p:cNvSpPr/>
          <p:nvPr/>
        </p:nvSpPr>
        <p:spPr>
          <a:xfrm>
            <a:off x="1462880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18" name="TextBox 24"/>
          <p:cNvSpPr txBox="1">
            <a:spLocks noChangeArrowheads="1"/>
          </p:cNvSpPr>
          <p:nvPr/>
        </p:nvSpPr>
        <p:spPr bwMode="auto">
          <a:xfrm>
            <a:off x="1756410" y="2225040"/>
            <a:ext cx="216027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4000" u="sng" dirty="0" err="1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</a:rPr>
              <a:t>hè</a:t>
            </a:r>
            <a:endParaRPr lang="en-US" altLang="zh-CN" sz="4000" u="sng" dirty="0" err="1">
              <a:solidFill>
                <a:schemeClr val="tx1"/>
              </a:solidFill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9" name="TextBox 26"/>
          <p:cNvSpPr txBox="1">
            <a:spLocks noChangeArrowheads="1"/>
          </p:cNvSpPr>
          <p:nvPr/>
        </p:nvSpPr>
        <p:spPr bwMode="auto">
          <a:xfrm>
            <a:off x="3947000" y="4140518"/>
            <a:ext cx="4754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组词：黄鹤楼    白鹤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043680" y="2367280"/>
            <a:ext cx="590486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结构：左右结构。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TextBox 23"/>
          <p:cNvSpPr txBox="1">
            <a:spLocks noChangeArrowheads="1"/>
          </p:cNvSpPr>
          <p:nvPr/>
        </p:nvSpPr>
        <p:spPr bwMode="auto">
          <a:xfrm>
            <a:off x="1577340" y="3672840"/>
            <a:ext cx="228600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8000" dirty="0">
                <a:solidFill>
                  <a:srgbClr val="FF0000"/>
                </a:solidFill>
              </a:rPr>
              <a:t>鹤</a:t>
            </a:r>
            <a:endParaRPr lang="zh-CN" altLang="en-US" sz="8000" dirty="0">
              <a:solidFill>
                <a:srgbClr val="FF0000"/>
              </a:solidFill>
            </a:endParaRPr>
          </a:p>
        </p:txBody>
      </p:sp>
      <p:sp>
        <p:nvSpPr>
          <p:cNvPr id="26" name="TextBox 21"/>
          <p:cNvSpPr txBox="1">
            <a:spLocks noChangeArrowheads="1"/>
          </p:cNvSpPr>
          <p:nvPr/>
        </p:nvSpPr>
        <p:spPr bwMode="auto">
          <a:xfrm>
            <a:off x="4804568" y="1428750"/>
            <a:ext cx="170688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我会写</a:t>
            </a:r>
            <a:endParaRPr lang="zh-CN" altLang="en-US" sz="4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47160" y="3244850"/>
            <a:ext cx="326199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偏旁：鸟字旁。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188085" y="3244850"/>
            <a:ext cx="2178685" cy="2178050"/>
            <a:chOff x="1687" y="4088"/>
            <a:chExt cx="3431" cy="3430"/>
          </a:xfrm>
        </p:grpSpPr>
        <p:sp>
          <p:nvSpPr>
            <p:cNvPr id="3" name="矩形 2"/>
            <p:cNvSpPr/>
            <p:nvPr/>
          </p:nvSpPr>
          <p:spPr>
            <a:xfrm>
              <a:off x="1687" y="4088"/>
              <a:ext cx="3431" cy="343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" name="直接连接符 4"/>
            <p:cNvCxnSpPr>
              <a:endCxn id="3" idx="3"/>
            </p:cNvCxnSpPr>
            <p:nvPr/>
          </p:nvCxnSpPr>
          <p:spPr>
            <a:xfrm flipV="1">
              <a:off x="1884" y="5804"/>
              <a:ext cx="3234" cy="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>
              <a:stCxn id="3" idx="0"/>
              <a:endCxn id="3" idx="2"/>
            </p:cNvCxnSpPr>
            <p:nvPr/>
          </p:nvCxnSpPr>
          <p:spPr>
            <a:xfrm>
              <a:off x="3403" y="4088"/>
              <a:ext cx="0" cy="343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5"/>
          <p:cNvGrpSpPr/>
          <p:nvPr/>
        </p:nvGrpSpPr>
        <p:grpSpPr bwMode="auto">
          <a:xfrm>
            <a:off x="1374776" y="1289844"/>
            <a:ext cx="2071687" cy="661987"/>
            <a:chOff x="571127" y="1769573"/>
            <a:chExt cx="2071702" cy="661806"/>
          </a:xfrm>
        </p:grpSpPr>
        <p:cxnSp>
          <p:nvCxnSpPr>
            <p:cNvPr id="28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同侧圆角矩形 28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30" name="同侧圆角矩形 29"/>
          <p:cNvSpPr/>
          <p:nvPr/>
        </p:nvSpPr>
        <p:spPr>
          <a:xfrm>
            <a:off x="1350963" y="1277144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31" name="TextBox 24"/>
          <p:cNvSpPr txBox="1">
            <a:spLocks noChangeArrowheads="1"/>
          </p:cNvSpPr>
          <p:nvPr/>
        </p:nvSpPr>
        <p:spPr bwMode="auto">
          <a:xfrm>
            <a:off x="1533208" y="2070894"/>
            <a:ext cx="2160588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4000" u="sng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</a:rPr>
              <a:t>mèng</a:t>
            </a:r>
            <a:endParaRPr lang="en-US" altLang="zh-CN" sz="4000" u="sng">
              <a:solidFill>
                <a:schemeClr val="tx1"/>
              </a:solidFill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32" name="TextBox 26"/>
          <p:cNvSpPr txBox="1">
            <a:spLocks noChangeArrowheads="1"/>
          </p:cNvSpPr>
          <p:nvPr/>
        </p:nvSpPr>
        <p:spPr bwMode="auto">
          <a:xfrm>
            <a:off x="3694430" y="4457065"/>
            <a:ext cx="502793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组词：姓孟    孟浩然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7" name="TextBox 23"/>
          <p:cNvSpPr txBox="1">
            <a:spLocks noChangeArrowheads="1"/>
          </p:cNvSpPr>
          <p:nvPr/>
        </p:nvSpPr>
        <p:spPr bwMode="auto">
          <a:xfrm>
            <a:off x="1666876" y="3675539"/>
            <a:ext cx="3097212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8000">
                <a:solidFill>
                  <a:srgbClr val="FF0000"/>
                </a:solidFill>
              </a:rPr>
              <a:t>孟</a:t>
            </a:r>
            <a:endParaRPr lang="zh-CN" altLang="en-US" sz="8000">
              <a:solidFill>
                <a:srgbClr val="FF0000"/>
              </a:solidFill>
            </a:endParaRPr>
          </a:p>
        </p:txBody>
      </p:sp>
      <p:sp>
        <p:nvSpPr>
          <p:cNvPr id="38" name="TextBox 21"/>
          <p:cNvSpPr txBox="1">
            <a:spLocks noChangeArrowheads="1"/>
          </p:cNvSpPr>
          <p:nvPr/>
        </p:nvSpPr>
        <p:spPr bwMode="auto">
          <a:xfrm>
            <a:off x="4692651" y="1450181"/>
            <a:ext cx="868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我会写</a:t>
            </a:r>
            <a:endParaRPr lang="zh-CN" altLang="en-US" sz="4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3694113" y="2675096"/>
            <a:ext cx="3559793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结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构：上下结构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694430" y="3491865"/>
            <a:ext cx="320230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偏旁：皿字底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88085" y="3270250"/>
            <a:ext cx="2178685" cy="2178050"/>
            <a:chOff x="1687" y="4088"/>
            <a:chExt cx="3431" cy="3430"/>
          </a:xfrm>
        </p:grpSpPr>
        <p:sp>
          <p:nvSpPr>
            <p:cNvPr id="3" name="矩形 2"/>
            <p:cNvSpPr/>
            <p:nvPr/>
          </p:nvSpPr>
          <p:spPr>
            <a:xfrm>
              <a:off x="1687" y="4088"/>
              <a:ext cx="3431" cy="343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>
              <a:endCxn id="3" idx="3"/>
            </p:cNvCxnSpPr>
            <p:nvPr/>
          </p:nvCxnSpPr>
          <p:spPr>
            <a:xfrm flipV="1">
              <a:off x="1884" y="5804"/>
              <a:ext cx="3234" cy="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3" idx="0"/>
              <a:endCxn id="3" idx="2"/>
            </p:cNvCxnSpPr>
            <p:nvPr/>
          </p:nvCxnSpPr>
          <p:spPr>
            <a:xfrm>
              <a:off x="3403" y="4088"/>
              <a:ext cx="0" cy="343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5"/>
          <p:cNvGrpSpPr/>
          <p:nvPr/>
        </p:nvGrpSpPr>
        <p:grpSpPr bwMode="auto">
          <a:xfrm>
            <a:off x="1304605" y="1254443"/>
            <a:ext cx="2071687" cy="661987"/>
            <a:chOff x="571127" y="1769573"/>
            <a:chExt cx="2071702" cy="661806"/>
          </a:xfrm>
        </p:grpSpPr>
        <p:cxnSp>
          <p:nvCxnSpPr>
            <p:cNvPr id="6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同侧圆角矩形 6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9" name="同侧圆角矩形 8"/>
          <p:cNvSpPr/>
          <p:nvPr/>
        </p:nvSpPr>
        <p:spPr>
          <a:xfrm>
            <a:off x="1277617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10" name="TextBox 24"/>
          <p:cNvSpPr txBox="1">
            <a:spLocks noChangeArrowheads="1"/>
          </p:cNvSpPr>
          <p:nvPr/>
        </p:nvSpPr>
        <p:spPr bwMode="auto">
          <a:xfrm>
            <a:off x="1390330" y="2135188"/>
            <a:ext cx="2160587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4000" u="sng">
                <a:uFill>
                  <a:solidFill>
                    <a:srgbClr val="FF0000"/>
                  </a:solidFill>
                </a:uFill>
              </a:rPr>
              <a:t>hào</a:t>
            </a:r>
            <a:endParaRPr lang="en-US" altLang="zh-CN" sz="40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3" name="TextBox 26"/>
          <p:cNvSpPr txBox="1">
            <a:spLocks noChangeArrowheads="1"/>
          </p:cNvSpPr>
          <p:nvPr/>
        </p:nvSpPr>
        <p:spPr bwMode="auto">
          <a:xfrm>
            <a:off x="3706492" y="4175125"/>
            <a:ext cx="44640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组词：浩荡   浩大</a:t>
            </a:r>
            <a:endParaRPr lang="zh-CN" altLang="en-US"/>
          </a:p>
        </p:txBody>
      </p: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1604642" y="3700463"/>
            <a:ext cx="3097213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8000">
                <a:solidFill>
                  <a:srgbClr val="FF0000"/>
                </a:solidFill>
              </a:rPr>
              <a:t>浩</a:t>
            </a:r>
            <a:endParaRPr lang="zh-CN" altLang="en-US"/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4618990" y="1428750"/>
            <a:ext cx="185674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会写</a:t>
            </a:r>
            <a:endParaRPr lang="zh-CN" altLang="en-US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706495" y="2545080"/>
            <a:ext cx="590423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结构：左右结构。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3706495" y="3359785"/>
            <a:ext cx="329247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偏旁：三点水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56260" y="3462020"/>
            <a:ext cx="2178685" cy="2178050"/>
            <a:chOff x="1687" y="4088"/>
            <a:chExt cx="3431" cy="3430"/>
          </a:xfrm>
        </p:grpSpPr>
        <p:sp>
          <p:nvSpPr>
            <p:cNvPr id="3" name="矩形 2"/>
            <p:cNvSpPr/>
            <p:nvPr/>
          </p:nvSpPr>
          <p:spPr>
            <a:xfrm>
              <a:off x="1687" y="4088"/>
              <a:ext cx="3431" cy="343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>
              <a:endCxn id="3" idx="3"/>
            </p:cNvCxnSpPr>
            <p:nvPr/>
          </p:nvCxnSpPr>
          <p:spPr>
            <a:xfrm flipV="1">
              <a:off x="1884" y="5804"/>
              <a:ext cx="3234" cy="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3" idx="0"/>
              <a:endCxn id="3" idx="2"/>
            </p:cNvCxnSpPr>
            <p:nvPr/>
          </p:nvCxnSpPr>
          <p:spPr>
            <a:xfrm>
              <a:off x="3403" y="4088"/>
              <a:ext cx="0" cy="343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5"/>
          <p:cNvGrpSpPr/>
          <p:nvPr/>
        </p:nvGrpSpPr>
        <p:grpSpPr bwMode="auto">
          <a:xfrm>
            <a:off x="1321429" y="1268413"/>
            <a:ext cx="2071687" cy="661987"/>
            <a:chOff x="571127" y="1769573"/>
            <a:chExt cx="2071702" cy="661806"/>
          </a:xfrm>
        </p:grpSpPr>
        <p:cxnSp>
          <p:nvCxnSpPr>
            <p:cNvPr id="6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同侧圆角矩形 6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9" name="同侧圆角矩形 8"/>
          <p:cNvSpPr/>
          <p:nvPr/>
        </p:nvSpPr>
        <p:spPr>
          <a:xfrm>
            <a:off x="1297616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10" name="TextBox 24"/>
          <p:cNvSpPr txBox="1">
            <a:spLocks noChangeArrowheads="1"/>
          </p:cNvSpPr>
          <p:nvPr/>
        </p:nvSpPr>
        <p:spPr bwMode="auto">
          <a:xfrm>
            <a:off x="1037590" y="2423795"/>
            <a:ext cx="208724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4000" u="sng">
                <a:uFill>
                  <a:solidFill>
                    <a:srgbClr val="FF0000"/>
                  </a:solidFill>
                </a:uFill>
              </a:rPr>
              <a:t>zhī</a:t>
            </a:r>
            <a:endParaRPr lang="en-US" altLang="zh-CN" sz="40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3" name="TextBox 26"/>
          <p:cNvSpPr txBox="1">
            <a:spLocks noChangeArrowheads="1"/>
          </p:cNvSpPr>
          <p:nvPr/>
        </p:nvSpPr>
        <p:spPr bwMode="auto">
          <a:xfrm>
            <a:off x="3706492" y="4089283"/>
            <a:ext cx="44640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词：之前   之后</a:t>
            </a:r>
            <a:endParaRPr lang="zh-CN" altLang="en-US" dirty="0"/>
          </a:p>
        </p:txBody>
      </p: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1037590" y="3892550"/>
            <a:ext cx="313055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8000" dirty="0">
                <a:solidFill>
                  <a:srgbClr val="FF0000"/>
                </a:solidFill>
              </a:rPr>
              <a:t>之</a:t>
            </a:r>
            <a:endParaRPr lang="zh-CN" altLang="en-US" sz="8000" dirty="0">
              <a:solidFill>
                <a:srgbClr val="FF0000"/>
              </a:solidFill>
            </a:endParaRP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4639310" y="1428750"/>
            <a:ext cx="183959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我会写</a:t>
            </a:r>
            <a:endParaRPr lang="zh-CN" altLang="en-US" sz="4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706495" y="2990215"/>
            <a:ext cx="341757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结构：独体字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18490" y="3464560"/>
            <a:ext cx="2178685" cy="2178050"/>
            <a:chOff x="1687" y="4088"/>
            <a:chExt cx="3431" cy="3430"/>
          </a:xfrm>
        </p:grpSpPr>
        <p:sp>
          <p:nvSpPr>
            <p:cNvPr id="3" name="矩形 2"/>
            <p:cNvSpPr/>
            <p:nvPr/>
          </p:nvSpPr>
          <p:spPr>
            <a:xfrm>
              <a:off x="1687" y="4088"/>
              <a:ext cx="3431" cy="343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>
              <a:endCxn id="3" idx="3"/>
            </p:cNvCxnSpPr>
            <p:nvPr/>
          </p:nvCxnSpPr>
          <p:spPr>
            <a:xfrm flipV="1">
              <a:off x="1884" y="5804"/>
              <a:ext cx="3234" cy="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3" idx="0"/>
              <a:endCxn id="3" idx="2"/>
            </p:cNvCxnSpPr>
            <p:nvPr/>
          </p:nvCxnSpPr>
          <p:spPr>
            <a:xfrm>
              <a:off x="3403" y="4088"/>
              <a:ext cx="0" cy="343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5"/>
          <p:cNvGrpSpPr/>
          <p:nvPr/>
        </p:nvGrpSpPr>
        <p:grpSpPr bwMode="auto">
          <a:xfrm>
            <a:off x="1188244" y="1268413"/>
            <a:ext cx="2071687" cy="661987"/>
            <a:chOff x="571127" y="1769573"/>
            <a:chExt cx="2071702" cy="661806"/>
          </a:xfrm>
        </p:grpSpPr>
        <p:cxnSp>
          <p:nvCxnSpPr>
            <p:cNvPr id="22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同侧圆角矩形 22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24" name="同侧圆角矩形 23"/>
          <p:cNvSpPr/>
          <p:nvPr/>
        </p:nvSpPr>
        <p:spPr>
          <a:xfrm>
            <a:off x="1164431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1188085" y="1930400"/>
            <a:ext cx="230822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4000" u="sng">
                <a:uFill>
                  <a:solidFill>
                    <a:srgbClr val="FF0000"/>
                  </a:solidFill>
                </a:uFill>
              </a:rPr>
              <a:t>líng</a:t>
            </a:r>
            <a:endParaRPr lang="en-US" altLang="zh-CN" sz="40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26" name="TextBox 26"/>
          <p:cNvSpPr txBox="1">
            <a:spLocks noChangeArrowheads="1"/>
          </p:cNvSpPr>
          <p:nvPr/>
        </p:nvSpPr>
        <p:spPr bwMode="auto">
          <a:xfrm>
            <a:off x="3372485" y="4559935"/>
            <a:ext cx="452310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组词：广陵    丘陵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TextBox 23"/>
          <p:cNvSpPr txBox="1">
            <a:spLocks noChangeArrowheads="1"/>
          </p:cNvSpPr>
          <p:nvPr/>
        </p:nvSpPr>
        <p:spPr bwMode="auto">
          <a:xfrm>
            <a:off x="1188402" y="4007802"/>
            <a:ext cx="1290637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8000" dirty="0">
                <a:solidFill>
                  <a:srgbClr val="FF0000"/>
                </a:solidFill>
              </a:rPr>
              <a:t>陵</a:t>
            </a:r>
            <a:endParaRPr lang="zh-CN" altLang="en-US" sz="8000" dirty="0">
              <a:solidFill>
                <a:srgbClr val="FF0000"/>
              </a:solidFill>
            </a:endParaRPr>
          </a:p>
        </p:txBody>
      </p:sp>
      <p:sp>
        <p:nvSpPr>
          <p:cNvPr id="32" name="TextBox 21"/>
          <p:cNvSpPr txBox="1">
            <a:spLocks noChangeArrowheads="1"/>
          </p:cNvSpPr>
          <p:nvPr/>
        </p:nvSpPr>
        <p:spPr bwMode="auto">
          <a:xfrm>
            <a:off x="4505960" y="1428750"/>
            <a:ext cx="176593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我会写</a:t>
            </a:r>
            <a:endParaRPr lang="zh-CN" altLang="en-US" sz="4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3496310" y="2510155"/>
            <a:ext cx="385826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结构：左右结构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96310" y="3535045"/>
            <a:ext cx="305498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偏旁：双耳刀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01345" y="3397250"/>
            <a:ext cx="2178685" cy="2178050"/>
            <a:chOff x="1687" y="4088"/>
            <a:chExt cx="3431" cy="3430"/>
          </a:xfrm>
        </p:grpSpPr>
        <p:sp>
          <p:nvSpPr>
            <p:cNvPr id="3" name="矩形 2"/>
            <p:cNvSpPr/>
            <p:nvPr/>
          </p:nvSpPr>
          <p:spPr>
            <a:xfrm>
              <a:off x="1687" y="4088"/>
              <a:ext cx="3431" cy="343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>
              <a:endCxn id="3" idx="3"/>
            </p:cNvCxnSpPr>
            <p:nvPr/>
          </p:nvCxnSpPr>
          <p:spPr>
            <a:xfrm flipV="1">
              <a:off x="1884" y="5804"/>
              <a:ext cx="3234" cy="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3" idx="0"/>
              <a:endCxn id="3" idx="2"/>
            </p:cNvCxnSpPr>
            <p:nvPr/>
          </p:nvCxnSpPr>
          <p:spPr>
            <a:xfrm>
              <a:off x="3403" y="4088"/>
              <a:ext cx="0" cy="343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5"/>
          <p:cNvGrpSpPr/>
          <p:nvPr/>
        </p:nvGrpSpPr>
        <p:grpSpPr bwMode="auto">
          <a:xfrm>
            <a:off x="1254919" y="1268413"/>
            <a:ext cx="2071687" cy="661987"/>
            <a:chOff x="571127" y="1769573"/>
            <a:chExt cx="2071702" cy="661806"/>
          </a:xfrm>
        </p:grpSpPr>
        <p:cxnSp>
          <p:nvCxnSpPr>
            <p:cNvPr id="6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同侧圆角矩形 6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9" name="同侧圆角矩形 8"/>
          <p:cNvSpPr/>
          <p:nvPr/>
        </p:nvSpPr>
        <p:spPr>
          <a:xfrm>
            <a:off x="1231106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10" name="TextBox 24"/>
          <p:cNvSpPr txBox="1">
            <a:spLocks noChangeArrowheads="1"/>
          </p:cNvSpPr>
          <p:nvPr/>
        </p:nvSpPr>
        <p:spPr bwMode="auto">
          <a:xfrm>
            <a:off x="1570831" y="1989138"/>
            <a:ext cx="2160588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u="sng">
                <a:uFill>
                  <a:solidFill>
                    <a:srgbClr val="FF0000"/>
                  </a:solidFill>
                </a:uFill>
              </a:rPr>
              <a:t>yǐng</a:t>
            </a:r>
            <a:endParaRPr lang="en-US" altLang="zh-CN" sz="40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3" name="TextBox 26"/>
          <p:cNvSpPr txBox="1">
            <a:spLocks noChangeArrowheads="1"/>
          </p:cNvSpPr>
          <p:nvPr/>
        </p:nvSpPr>
        <p:spPr bwMode="auto">
          <a:xfrm>
            <a:off x="3394075" y="4401185"/>
            <a:ext cx="462216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组词：影子   电影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1061879" y="3963353"/>
            <a:ext cx="1548606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8000" dirty="0">
                <a:solidFill>
                  <a:srgbClr val="FF0000"/>
                </a:solidFill>
              </a:rPr>
              <a:t>影</a:t>
            </a:r>
            <a:endParaRPr lang="zh-CN" altLang="en-US" sz="8000" dirty="0">
              <a:solidFill>
                <a:srgbClr val="FF0000"/>
              </a:solidFill>
            </a:endParaRP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4572635" y="1428750"/>
            <a:ext cx="177101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我会写</a:t>
            </a:r>
            <a:endParaRPr lang="zh-CN" altLang="en-US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461226" y="2573338"/>
            <a:ext cx="3424614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结构：左右结构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61385" y="3397250"/>
            <a:ext cx="269049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偏旁：三撇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54355" y="3408680"/>
            <a:ext cx="2178685" cy="2178050"/>
            <a:chOff x="1687" y="4088"/>
            <a:chExt cx="3431" cy="3430"/>
          </a:xfrm>
        </p:grpSpPr>
        <p:sp>
          <p:nvSpPr>
            <p:cNvPr id="3" name="矩形 2"/>
            <p:cNvSpPr/>
            <p:nvPr/>
          </p:nvSpPr>
          <p:spPr>
            <a:xfrm>
              <a:off x="1687" y="4088"/>
              <a:ext cx="3431" cy="343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>
              <a:endCxn id="3" idx="3"/>
            </p:cNvCxnSpPr>
            <p:nvPr/>
          </p:nvCxnSpPr>
          <p:spPr>
            <a:xfrm flipV="1">
              <a:off x="1884" y="5804"/>
              <a:ext cx="3234" cy="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3" idx="0"/>
              <a:endCxn id="3" idx="2"/>
            </p:cNvCxnSpPr>
            <p:nvPr/>
          </p:nvCxnSpPr>
          <p:spPr>
            <a:xfrm>
              <a:off x="3403" y="4088"/>
              <a:ext cx="0" cy="343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5"/>
          <p:cNvGrpSpPr/>
          <p:nvPr/>
        </p:nvGrpSpPr>
        <p:grpSpPr bwMode="auto">
          <a:xfrm>
            <a:off x="1643971" y="1268413"/>
            <a:ext cx="2071687" cy="661987"/>
            <a:chOff x="571127" y="1769573"/>
            <a:chExt cx="2071702" cy="661806"/>
          </a:xfrm>
        </p:grpSpPr>
        <p:cxnSp>
          <p:nvCxnSpPr>
            <p:cNvPr id="6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同侧圆角矩形 6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9" name="同侧圆角矩形 8"/>
          <p:cNvSpPr/>
          <p:nvPr/>
        </p:nvSpPr>
        <p:spPr>
          <a:xfrm>
            <a:off x="1620158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10" name="TextBox 24"/>
          <p:cNvSpPr txBox="1">
            <a:spLocks noChangeArrowheads="1"/>
          </p:cNvSpPr>
          <p:nvPr/>
        </p:nvSpPr>
        <p:spPr bwMode="auto">
          <a:xfrm>
            <a:off x="1198836" y="2458085"/>
            <a:ext cx="2160587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000" u="sng">
                <a:uFill>
                  <a:solidFill>
                    <a:srgbClr val="FF0000"/>
                  </a:solidFill>
                </a:uFill>
              </a:rPr>
              <a:t>bì</a:t>
            </a:r>
            <a:endParaRPr lang="en-US" altLang="zh-CN" sz="40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3" name="TextBox 26"/>
          <p:cNvSpPr txBox="1">
            <a:spLocks noChangeArrowheads="1"/>
          </p:cNvSpPr>
          <p:nvPr/>
        </p:nvSpPr>
        <p:spPr bwMode="auto">
          <a:xfrm>
            <a:off x="4082415" y="4175125"/>
            <a:ext cx="458724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组词：碧绿   碧波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985158" y="3838893"/>
            <a:ext cx="3097213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8000">
                <a:solidFill>
                  <a:srgbClr val="FF0000"/>
                </a:solidFill>
              </a:rPr>
              <a:t>碧</a:t>
            </a:r>
            <a:endParaRPr lang="zh-CN" altLang="en-US" sz="8000">
              <a:solidFill>
                <a:srgbClr val="FF0000"/>
              </a:solidFill>
            </a:endParaRP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4961890" y="1428750"/>
            <a:ext cx="204152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我会写</a:t>
            </a:r>
            <a:endParaRPr lang="zh-CN" altLang="en-US" sz="4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082415" y="2625725"/>
            <a:ext cx="391541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结构：上下结构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4082415" y="3400425"/>
            <a:ext cx="317944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偏旁：石字底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39750" y="3365500"/>
            <a:ext cx="2178685" cy="2178050"/>
            <a:chOff x="1687" y="4088"/>
            <a:chExt cx="3431" cy="3430"/>
          </a:xfrm>
        </p:grpSpPr>
        <p:sp>
          <p:nvSpPr>
            <p:cNvPr id="3" name="矩形 2"/>
            <p:cNvSpPr/>
            <p:nvPr/>
          </p:nvSpPr>
          <p:spPr>
            <a:xfrm>
              <a:off x="1687" y="4088"/>
              <a:ext cx="3431" cy="343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" name="直接连接符 3"/>
            <p:cNvCxnSpPr>
              <a:endCxn id="3" idx="3"/>
            </p:cNvCxnSpPr>
            <p:nvPr/>
          </p:nvCxnSpPr>
          <p:spPr>
            <a:xfrm flipV="1">
              <a:off x="1884" y="5804"/>
              <a:ext cx="3234" cy="5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3" idx="0"/>
              <a:endCxn id="3" idx="2"/>
            </p:cNvCxnSpPr>
            <p:nvPr/>
          </p:nvCxnSpPr>
          <p:spPr>
            <a:xfrm>
              <a:off x="3403" y="4088"/>
              <a:ext cx="0" cy="3431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5"/>
          <p:cNvGrpSpPr/>
          <p:nvPr/>
        </p:nvGrpSpPr>
        <p:grpSpPr bwMode="auto">
          <a:xfrm>
            <a:off x="1560514" y="1268413"/>
            <a:ext cx="2071687" cy="661987"/>
            <a:chOff x="571127" y="1769573"/>
            <a:chExt cx="2071702" cy="661806"/>
          </a:xfrm>
        </p:grpSpPr>
        <p:cxnSp>
          <p:nvCxnSpPr>
            <p:cNvPr id="6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同侧圆角矩形 6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9" name="同侧圆角矩形 8"/>
          <p:cNvSpPr/>
          <p:nvPr/>
        </p:nvSpPr>
        <p:spPr>
          <a:xfrm>
            <a:off x="1536701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10" name="TextBox 24"/>
          <p:cNvSpPr txBox="1">
            <a:spLocks noChangeArrowheads="1"/>
          </p:cNvSpPr>
          <p:nvPr/>
        </p:nvSpPr>
        <p:spPr bwMode="auto">
          <a:xfrm>
            <a:off x="1992314" y="1989138"/>
            <a:ext cx="21590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4000" u="sng">
                <a:uFill>
                  <a:solidFill>
                    <a:srgbClr val="FF0000"/>
                  </a:solidFill>
                </a:uFill>
              </a:rPr>
              <a:t>wéi</a:t>
            </a:r>
            <a:endParaRPr lang="en-US" altLang="zh-CN" sz="40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3" name="TextBox 26"/>
          <p:cNvSpPr txBox="1">
            <a:spLocks noChangeArrowheads="1"/>
          </p:cNvSpPr>
          <p:nvPr/>
        </p:nvSpPr>
        <p:spPr bwMode="auto">
          <a:xfrm>
            <a:off x="3921125" y="4267200"/>
            <a:ext cx="470090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组词：唯一    唯独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960755" y="3793490"/>
            <a:ext cx="3152775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8000" dirty="0">
                <a:solidFill>
                  <a:srgbClr val="FF0000"/>
                </a:solidFill>
              </a:rPr>
              <a:t>唯</a:t>
            </a:r>
            <a:endParaRPr lang="zh-CN" altLang="en-US" sz="8000" dirty="0">
              <a:solidFill>
                <a:srgbClr val="FF0000"/>
              </a:solidFill>
            </a:endParaRP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4878705" y="1428750"/>
            <a:ext cx="171450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我会写</a:t>
            </a:r>
            <a:endParaRPr lang="zh-CN" altLang="en-US" sz="4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921125" y="2453640"/>
            <a:ext cx="412559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结构：左中右结构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921125" y="3365500"/>
            <a:ext cx="328104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偏旁：口字旁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5"/>
          <p:cNvGrpSpPr/>
          <p:nvPr/>
        </p:nvGrpSpPr>
        <p:grpSpPr bwMode="auto">
          <a:xfrm>
            <a:off x="1834889" y="1268413"/>
            <a:ext cx="2071687" cy="661987"/>
            <a:chOff x="571127" y="1769573"/>
            <a:chExt cx="2071702" cy="661806"/>
          </a:xfrm>
        </p:grpSpPr>
        <p:cxnSp>
          <p:nvCxnSpPr>
            <p:cNvPr id="6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同侧圆角矩形 6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sz="3000" b="1" noProof="1">
                <a:latin typeface="华文新魏" panose="02010800040101010101" pitchFamily="2" charset="-122"/>
                <a:ea typeface="华文新魏" panose="02010800040101010101" pitchFamily="2" charset="-122"/>
                <a:cs typeface="黑体" panose="02010609060101010101" charset="-122"/>
              </a:endParaRPr>
            </a:p>
          </p:txBody>
        </p:sp>
      </p:grpSp>
      <p:sp>
        <p:nvSpPr>
          <p:cNvPr id="9" name="同侧圆角矩形 8"/>
          <p:cNvSpPr/>
          <p:nvPr/>
        </p:nvSpPr>
        <p:spPr>
          <a:xfrm>
            <a:off x="1811076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sz="3000" b="1" noProof="1">
                <a:latin typeface="华文新魏" panose="02010800040101010101" pitchFamily="2" charset="-122"/>
                <a:ea typeface="华文新魏" panose="02010800040101010101" pitchFamily="2" charset="-122"/>
                <a:cs typeface="黑体" panose="02010609060101010101" charset="-122"/>
              </a:rPr>
              <a:t>字词乐园</a:t>
            </a:r>
            <a:endParaRPr lang="zh-CN" altLang="en-US" sz="3000" b="1" noProof="1">
              <a:latin typeface="华文新魏" panose="02010800040101010101" pitchFamily="2" charset="-122"/>
              <a:ea typeface="华文新魏" panose="02010800040101010101" pitchFamily="2" charset="-122"/>
              <a:cs typeface="黑体" panose="02010609060101010101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208517" y="2613737"/>
            <a:ext cx="77724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“故人”就是“老朋友”，指孟浩然。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“辞”就是“辞别”，黄鹤楼在扬州的西方，所以说“西辞”。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“下”是顺流直下，可见船走得很快。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spcBef>
                <a:spcPct val="20000"/>
              </a:spcBef>
            </a:pP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spcBef>
                <a:spcPct val="20000"/>
              </a:spcBef>
            </a:pP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TextBox 2"/>
          <p:cNvSpPr txBox="1">
            <a:spLocks noChangeArrowheads="1"/>
          </p:cNvSpPr>
          <p:nvPr/>
        </p:nvSpPr>
        <p:spPr bwMode="auto">
          <a:xfrm>
            <a:off x="4570151" y="1284288"/>
            <a:ext cx="280828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理解词语</a:t>
            </a:r>
            <a:endParaRPr lang="zh-CN" altLang="en-US" sz="3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5"/>
          <p:cNvGrpSpPr/>
          <p:nvPr/>
        </p:nvGrpSpPr>
        <p:grpSpPr bwMode="auto">
          <a:xfrm>
            <a:off x="1834889" y="1268413"/>
            <a:ext cx="2071687" cy="661987"/>
            <a:chOff x="571127" y="1769573"/>
            <a:chExt cx="2071702" cy="661806"/>
          </a:xfrm>
        </p:grpSpPr>
        <p:cxnSp>
          <p:nvCxnSpPr>
            <p:cNvPr id="6" name="直线连接符 21"/>
            <p:cNvCxnSpPr/>
            <p:nvPr/>
          </p:nvCxnSpPr>
          <p:spPr>
            <a:xfrm flipV="1">
              <a:off x="571127" y="2425031"/>
              <a:ext cx="2071702" cy="6348"/>
            </a:xfrm>
            <a:prstGeom prst="line">
              <a:avLst/>
            </a:prstGeom>
            <a:ln w="38100" cmpd="sng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同侧圆角矩形 6"/>
            <p:cNvSpPr/>
            <p:nvPr/>
          </p:nvSpPr>
          <p:spPr>
            <a:xfrm>
              <a:off x="571127" y="1769573"/>
              <a:ext cx="2000264" cy="515796"/>
            </a:xfrm>
            <a:prstGeom prst="round2Same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/>
              <a:endParaRPr lang="zh-CN" altLang="en-US" noProof="1"/>
            </a:p>
          </p:txBody>
        </p:sp>
      </p:grpSp>
      <p:sp>
        <p:nvSpPr>
          <p:cNvPr id="9" name="同侧圆角矩形 8"/>
          <p:cNvSpPr/>
          <p:nvPr/>
        </p:nvSpPr>
        <p:spPr>
          <a:xfrm>
            <a:off x="1811076" y="1255713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/>
            <a:r>
              <a:rPr lang="zh-CN" altLang="en-US" noProof="1"/>
              <a:t>字词乐园</a:t>
            </a:r>
            <a:endParaRPr lang="zh-CN" altLang="en-US" noProof="1"/>
          </a:p>
        </p:txBody>
      </p:sp>
      <p:sp>
        <p:nvSpPr>
          <p:cNvPr id="13" name="TextBox 2"/>
          <p:cNvSpPr txBox="1">
            <a:spLocks noChangeArrowheads="1"/>
          </p:cNvSpPr>
          <p:nvPr/>
        </p:nvSpPr>
        <p:spPr bwMode="auto">
          <a:xfrm>
            <a:off x="5563235" y="1341755"/>
            <a:ext cx="301180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理解词语</a:t>
            </a:r>
            <a:endParaRPr lang="zh-CN" altLang="en-US" sz="3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1967845" y="2349499"/>
            <a:ext cx="8070457" cy="3498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Tx/>
              <a:buNone/>
            </a:pP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“烟花”，阴历三月是春天最好的时节。春天百花盛开，田野上常有迷迷蒙蒙的雾气，古人称为“烟花”。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Tx/>
              <a:buNone/>
            </a:pP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“碧空”就是湛蓝的天空。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Tx/>
              <a:buNone/>
            </a:pP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“天际”是天边。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spcBef>
                <a:spcPct val="20000"/>
              </a:spcBef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66407" y="1821036"/>
            <a:ext cx="3865562" cy="72326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zh-CN" altLang="en-US" sz="4700" b="1" noProof="1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课文详解</a:t>
            </a:r>
            <a:endParaRPr lang="zh-CN" altLang="en-US" sz="4700" b="1" noProof="1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975789" y="3082617"/>
            <a:ext cx="54361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noProof="1">
                <a:sym typeface="Arial" panose="020B0604020202020204" pitchFamily="34" charset="0"/>
              </a:rPr>
              <a:t>添加相关标题文字添加相关标题文字相关标题文字</a:t>
            </a:r>
            <a:endParaRPr lang="en-US" altLang="zh-CN" noProof="1">
              <a:sym typeface="Arial" panose="020B0604020202020204" pitchFamily="34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4975789" y="3360202"/>
            <a:ext cx="54361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noProof="1">
                <a:sym typeface="Arial" panose="020B0604020202020204" pitchFamily="34" charset="0"/>
              </a:rPr>
              <a:t>添加相关标题文字添加相关标题文字相关标题文字</a:t>
            </a:r>
            <a:endParaRPr lang="en-US" altLang="zh-CN" noProof="1"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59602" y="1686902"/>
            <a:ext cx="1278846" cy="2048606"/>
          </a:xfrm>
          <a:prstGeom prst="rect">
            <a:avLst/>
          </a:prstGeom>
          <a:noFill/>
          <a:ln w="12700">
            <a:solidFill>
              <a:srgbClr val="7C5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4700" b="1">
                <a:ln>
                  <a:solidFill>
                    <a:schemeClr val="tx1"/>
                  </a:solidFill>
                </a:ln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lang="en-US" altLang="zh-CN" sz="4700" b="1">
              <a:ln>
                <a:solidFill>
                  <a:schemeClr val="tx1"/>
                </a:solidFill>
              </a:ln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84829" y="596217"/>
            <a:ext cx="8671668" cy="606941"/>
          </a:xfrm>
        </p:spPr>
        <p:txBody>
          <a:bodyPr>
            <a:normAutofit fontScale="90000"/>
          </a:bodyPr>
          <a:lstStyle/>
          <a:p>
            <a:r>
              <a:rPr lang="zh-CN" altLang="en-US" sz="4445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故人西辞黄鹤楼，烟花三月下扬州。</a:t>
            </a:r>
            <a:endParaRPr lang="zh-CN" altLang="en-US" sz="4445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sz="half" idx="1"/>
          </p:nvPr>
        </p:nvSpPr>
        <p:spPr>
          <a:xfrm>
            <a:off x="691406" y="1837478"/>
            <a:ext cx="5180926" cy="1604539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ct val="50000"/>
              </a:spcBef>
            </a:pPr>
            <a:r>
              <a:rPr lang="zh-CN" altLang="en-US" sz="3200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故人：老朋友。                       烟花：形容柳絮如烟，鲜花似锦的春天景物。</a:t>
            </a:r>
            <a:endParaRPr lang="zh-CN" altLang="en-US" sz="3200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3200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 descr="地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405" y="3879215"/>
            <a:ext cx="4230370" cy="2328545"/>
          </a:xfrm>
          <a:prstGeom prst="rect">
            <a:avLst/>
          </a:prstGeom>
        </p:spPr>
      </p:pic>
      <p:pic>
        <p:nvPicPr>
          <p:cNvPr id="3" name="图片 2" descr="黄鹤楼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360" y="1501140"/>
            <a:ext cx="5090160" cy="4962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2"/>
          <p:cNvSpPr txBox="1">
            <a:spLocks noChangeArrowheads="1"/>
          </p:cNvSpPr>
          <p:nvPr/>
        </p:nvSpPr>
        <p:spPr bwMode="auto">
          <a:xfrm>
            <a:off x="8457682" y="1355762"/>
            <a:ext cx="1659890" cy="4593399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mpd="thickThin">
            <a:solidFill>
              <a:schemeClr val="tx1">
                <a:alpha val="50000"/>
              </a:schemeClr>
            </a:solidFill>
          </a:ln>
        </p:spPr>
        <p:txBody>
          <a:bodyPr vert="eaVert"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我的好友孟浩然在繁花似锦的阳春三月，由黄鹤楼出发，乘船东行到扬州去。</a:t>
            </a:r>
            <a:endParaRPr lang="zh-CN" altLang="en-US" sz="32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 descr="插图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730" y="869315"/>
            <a:ext cx="5655945" cy="5120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7181146" y="1573702"/>
            <a:ext cx="3900647" cy="369332"/>
          </a:xfrm>
          <a:prstGeom prst="rect">
            <a:avLst/>
          </a:prstGeom>
          <a:solidFill>
            <a:srgbClr val="FFFFFF">
              <a:alpha val="78824"/>
            </a:srgb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6744970" y="4050030"/>
            <a:ext cx="4691380" cy="1677035"/>
          </a:xfrm>
          <a:prstGeom prst="rect">
            <a:avLst/>
          </a:prstGeom>
          <a:solidFill>
            <a:srgbClr val="FFFFFF">
              <a:alpha val="81176"/>
            </a:srgb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28600" indent="-228600" algn="l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3200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孤帆：孤单单一只船。</a:t>
            </a:r>
            <a:endParaRPr lang="zh-CN" altLang="en-US" sz="3200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28600" indent="-228600" algn="l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3200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尽：看不见了。</a:t>
            </a:r>
            <a:endParaRPr lang="zh-CN" altLang="en-US" sz="3200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28600" indent="-228600" algn="l" eaLnBrk="1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3200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唯：只。</a:t>
            </a:r>
            <a:endParaRPr lang="zh-CN" altLang="en-US" sz="3200" dirty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2236" y="586592"/>
            <a:ext cx="9143306" cy="1059328"/>
          </a:xfrm>
        </p:spPr>
        <p:txBody>
          <a:bodyPr/>
          <a:lstStyle/>
          <a:p>
            <a:r>
              <a:rPr lang="zh-CN" altLang="en-US" sz="4445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孤帆远影碧空尽，唯见长江天际流。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31278" y="2110541"/>
            <a:ext cx="5180926" cy="1595275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sz="3200" dirty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“孤帆”并不是说浩瀚的长江上只有一只帆船，而是说诗人的注意力全部集中在好友乘坐的那只帆船上。 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2"/>
          <p:cNvSpPr txBox="1">
            <a:spLocks noChangeArrowheads="1"/>
          </p:cNvSpPr>
          <p:nvPr/>
        </p:nvSpPr>
        <p:spPr bwMode="auto">
          <a:xfrm>
            <a:off x="1831340" y="1144270"/>
            <a:ext cx="2644775" cy="457136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mpd="thickThin">
            <a:solidFill>
              <a:schemeClr val="tx1">
                <a:alpha val="50000"/>
              </a:schemeClr>
            </a:solidFill>
          </a:ln>
        </p:spPr>
        <p:txBody>
          <a:bodyPr vert="eaVert"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我伫立江边，目送友人的小舟愈行愈远，渐渐消失在水天相接的地方，只望见浩浩荡荡的江水流向天际。 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5299075" y="1364615"/>
            <a:ext cx="4622165" cy="304609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alpha val="5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       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帆影已经消失了，诗人还在翘首遥望，似乎要把自己对朋友的深深思念之情托付江水，陪伴行舟，将友人送到目的地。</a:t>
            </a:r>
            <a:endParaRPr lang="zh-CN" alt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959350" y="5026025"/>
            <a:ext cx="5615305" cy="58356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alpha val="5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此时此刻，李白在想什么呢？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/>
          <p:cNvSpPr txBox="1">
            <a:spLocks noChangeArrowheads="1"/>
          </p:cNvSpPr>
          <p:nvPr/>
        </p:nvSpPr>
        <p:spPr bwMode="auto">
          <a:xfrm>
            <a:off x="2885257" y="1279709"/>
            <a:ext cx="24653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/>
              <a:t>主题概括</a:t>
            </a:r>
            <a:endParaRPr lang="zh-CN" altLang="en-US" sz="3600" b="1" dirty="0"/>
          </a:p>
        </p:txBody>
      </p:sp>
      <p:sp>
        <p:nvSpPr>
          <p:cNvPr id="3" name="Rectangle 5"/>
          <p:cNvSpPr>
            <a:spLocks noRot="1" noChangeArrowheads="1"/>
          </p:cNvSpPr>
          <p:nvPr/>
        </p:nvSpPr>
        <p:spPr bwMode="auto">
          <a:xfrm>
            <a:off x="824448" y="2205038"/>
            <a:ext cx="5893986" cy="324167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alpha val="50000"/>
              </a:schemeClr>
            </a:solidFill>
            <a:miter lim="800000"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algn="l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200" dirty="0"/>
              <a:t>           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《黄鹤楼送孟浩然之广陵》通过描绘李白送好朋友孟浩然去广陵的动人场面，表现了友人间的依依惜别之情。 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38060" y="2422525"/>
            <a:ext cx="4450715" cy="2553335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alpha val="5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  <a:buClrTx/>
              <a:buSzTx/>
              <a:buFontTx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这首诗前两行叙事，后两行写景，并没有直接抒发感情。我们读了却能体会到李白当时的依依惜别之情。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66407" y="1821036"/>
            <a:ext cx="3865562" cy="72326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ctr" eaLnBrk="1" hangingPunct="1">
              <a:defRPr/>
            </a:pPr>
            <a:r>
              <a:rPr lang="zh-CN" altLang="en-US" sz="4700" b="1" noProof="1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随堂练习</a:t>
            </a:r>
            <a:endParaRPr lang="zh-CN" altLang="en-US" sz="4700" b="1" noProof="1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4975789" y="3082617"/>
            <a:ext cx="54361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noProof="1">
                <a:sym typeface="Arial" panose="020B0604020202020204" pitchFamily="34" charset="0"/>
              </a:rPr>
              <a:t>添加相关标题文字添加相关标题文字相关标题文字</a:t>
            </a:r>
            <a:endParaRPr lang="en-US" altLang="zh-CN" noProof="1">
              <a:sym typeface="Arial" panose="020B0604020202020204" pitchFamily="34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4975789" y="3360202"/>
            <a:ext cx="54361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zh-CN" altLang="en-US" noProof="1">
                <a:sym typeface="Arial" panose="020B0604020202020204" pitchFamily="34" charset="0"/>
              </a:rPr>
              <a:t>添加相关标题文字添加相关标题文字相关标题文字</a:t>
            </a:r>
            <a:endParaRPr lang="en-US" altLang="zh-CN" noProof="1"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59602" y="1686902"/>
            <a:ext cx="1278846" cy="2048606"/>
          </a:xfrm>
          <a:prstGeom prst="rect">
            <a:avLst/>
          </a:prstGeom>
          <a:noFill/>
          <a:ln w="12700">
            <a:solidFill>
              <a:srgbClr val="7C5C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4700" b="1">
                <a:ln>
                  <a:solidFill>
                    <a:schemeClr val="tx1"/>
                  </a:solidFill>
                </a:ln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lang="en-US" altLang="zh-CN" sz="4700" b="1">
              <a:ln>
                <a:solidFill>
                  <a:schemeClr val="tx1"/>
                </a:solidFill>
              </a:ln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同侧圆角矩形 17"/>
          <p:cNvSpPr/>
          <p:nvPr/>
        </p:nvSpPr>
        <p:spPr>
          <a:xfrm>
            <a:off x="1142081" y="1268412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defRPr/>
            </a:pPr>
            <a:r>
              <a:rPr lang="zh-CN" altLang="en-US" noProof="1"/>
              <a:t>随堂练习</a:t>
            </a:r>
            <a:endParaRPr lang="zh-CN" altLang="en-US" noProof="1"/>
          </a:p>
        </p:txBody>
      </p:sp>
      <p:cxnSp>
        <p:nvCxnSpPr>
          <p:cNvPr id="19" name="直线连接符 21"/>
          <p:cNvCxnSpPr/>
          <p:nvPr/>
        </p:nvCxnSpPr>
        <p:spPr>
          <a:xfrm flipV="1">
            <a:off x="1142081" y="1844674"/>
            <a:ext cx="2071687" cy="6350"/>
          </a:xfrm>
          <a:prstGeom prst="line">
            <a:avLst/>
          </a:prstGeom>
          <a:ln w="38100" cmpd="sng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6"/>
          <p:cNvSpPr>
            <a:spLocks noChangeArrowheads="1"/>
          </p:cNvSpPr>
          <p:nvPr/>
        </p:nvSpPr>
        <p:spPr bwMode="auto">
          <a:xfrm>
            <a:off x="1184943" y="2924174"/>
            <a:ext cx="8142288" cy="282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3600">
                <a:solidFill>
                  <a:srgbClr val="7030A0"/>
                </a:solidFill>
              </a:rPr>
              <a:t>“之”的意思是（                ）。</a:t>
            </a:r>
            <a:endParaRPr lang="zh-CN" altLang="en-US" sz="3600">
              <a:solidFill>
                <a:srgbClr val="7030A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3600">
                <a:solidFill>
                  <a:srgbClr val="7030A0"/>
                </a:solidFill>
              </a:rPr>
              <a:t>“广陵”是现在的（              ）。</a:t>
            </a:r>
            <a:endParaRPr lang="zh-CN" altLang="en-US" sz="3600">
              <a:solidFill>
                <a:srgbClr val="7030A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3600">
                <a:solidFill>
                  <a:srgbClr val="7030A0"/>
                </a:solidFill>
              </a:rPr>
              <a:t>“烟花”指（                          ）。</a:t>
            </a:r>
            <a:endParaRPr lang="zh-CN" altLang="en-US" sz="3600">
              <a:solidFill>
                <a:srgbClr val="7030A0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3600">
                <a:solidFill>
                  <a:srgbClr val="7030A0"/>
                </a:solidFill>
              </a:rPr>
              <a:t>“尽”是（                  ）。</a:t>
            </a:r>
            <a:endParaRPr lang="zh-CN" altLang="en-US" sz="3600">
              <a:solidFill>
                <a:srgbClr val="7030A0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1691356" y="2133599"/>
            <a:ext cx="712946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>
                <a:solidFill>
                  <a:srgbClr val="7030A0"/>
                </a:solidFill>
              </a:rPr>
              <a:t>你记住这些词语的意思了吗？</a:t>
            </a:r>
            <a:endParaRPr lang="zh-CN" altLang="en-US" sz="3600">
              <a:solidFill>
                <a:srgbClr val="7030A0"/>
              </a:solidFill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653438" y="2791142"/>
            <a:ext cx="13684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去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5994400" y="3435985"/>
            <a:ext cx="151511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扬州</a:t>
            </a:r>
            <a:endParaRPr lang="zh-CN" altLang="en-US" dirty="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4372643" y="4055427"/>
            <a:ext cx="25654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艳丽的春景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4093210" y="4700270"/>
            <a:ext cx="156019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消失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同侧圆角矩形 17"/>
          <p:cNvSpPr/>
          <p:nvPr/>
        </p:nvSpPr>
        <p:spPr>
          <a:xfrm>
            <a:off x="1142081" y="1268412"/>
            <a:ext cx="2000250" cy="517525"/>
          </a:xfrm>
          <a:prstGeom prst="round2Same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defRPr/>
            </a:pPr>
            <a:r>
              <a:rPr lang="zh-CN" altLang="en-US" noProof="1"/>
              <a:t>随堂练习</a:t>
            </a:r>
            <a:endParaRPr lang="zh-CN" altLang="en-US" noProof="1"/>
          </a:p>
        </p:txBody>
      </p:sp>
      <p:cxnSp>
        <p:nvCxnSpPr>
          <p:cNvPr id="19" name="直线连接符 21"/>
          <p:cNvCxnSpPr/>
          <p:nvPr/>
        </p:nvCxnSpPr>
        <p:spPr>
          <a:xfrm flipV="1">
            <a:off x="1142081" y="1844674"/>
            <a:ext cx="2071687" cy="6350"/>
          </a:xfrm>
          <a:prstGeom prst="line">
            <a:avLst/>
          </a:prstGeom>
          <a:ln w="38100" cmpd="sng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647187" y="2208848"/>
            <a:ext cx="9078899" cy="412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3600">
                <a:solidFill>
                  <a:srgbClr val="7030A0"/>
                </a:solidFill>
              </a:rPr>
              <a:t>“故人”是老朋友，这里指（                ）。因为（                                             ）  ，所以说“西辞”。</a:t>
            </a:r>
            <a:endParaRPr lang="zh-CN" altLang="en-US" sz="3600">
              <a:solidFill>
                <a:srgbClr val="7030A0"/>
              </a:solidFill>
            </a:endParaRPr>
          </a:p>
          <a:p>
            <a:pPr marL="0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3600">
                <a:solidFill>
                  <a:srgbClr val="7030A0"/>
                </a:solidFill>
              </a:rPr>
              <a:t>“唯”是（            ）。</a:t>
            </a:r>
            <a:endParaRPr lang="zh-CN" altLang="en-US" sz="3600">
              <a:solidFill>
                <a:srgbClr val="7030A0"/>
              </a:solidFill>
            </a:endParaRPr>
          </a:p>
          <a:p>
            <a:pPr marL="0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3600">
                <a:solidFill>
                  <a:srgbClr val="7030A0"/>
                </a:solidFill>
              </a:rPr>
              <a:t>“天际”是（                  ）。</a:t>
            </a:r>
            <a:endParaRPr lang="zh-CN" altLang="en-US" sz="3600">
              <a:solidFill>
                <a:srgbClr val="7030A0"/>
              </a:solidFill>
            </a:endParaRPr>
          </a:p>
          <a:p>
            <a:pPr marL="0" algn="l" eaLnBrk="1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3600">
                <a:solidFill>
                  <a:srgbClr val="7030A0"/>
                </a:solidFill>
              </a:rPr>
              <a:t>这首诗表达了李白对老朋友（                       ）之情。</a:t>
            </a:r>
            <a:endParaRPr lang="zh-CN" altLang="en-US" sz="3600">
              <a:solidFill>
                <a:srgbClr val="7030A0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7734935" y="2132330"/>
            <a:ext cx="196405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孟浩然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3213732" y="2860993"/>
            <a:ext cx="432117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黄鹤楼在扬州的西边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299582" y="3948748"/>
            <a:ext cx="89376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F0000"/>
                </a:solidFill>
              </a:rPr>
              <a:t>只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878702" y="4607878"/>
            <a:ext cx="13684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F0000"/>
                </a:solidFill>
              </a:rPr>
              <a:t>天边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7826375" y="5253355"/>
            <a:ext cx="21647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</a:rPr>
              <a:t>依依惜别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>
            <a:off x="6189993" y="1203158"/>
            <a:ext cx="0" cy="3927107"/>
          </a:xfrm>
          <a:prstGeom prst="line">
            <a:avLst/>
          </a:prstGeom>
          <a:ln>
            <a:solidFill>
              <a:srgbClr val="6B6B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_14"/>
          <p:cNvSpPr txBox="1">
            <a:spLocks noChangeArrowheads="1"/>
          </p:cNvSpPr>
          <p:nvPr/>
        </p:nvSpPr>
        <p:spPr bwMode="auto">
          <a:xfrm>
            <a:off x="6009005" y="617855"/>
            <a:ext cx="2350135" cy="635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6000" b="1" dirty="0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小学语文课件</a:t>
            </a:r>
            <a:endParaRPr lang="zh-CN" altLang="en-US" sz="6000" b="1" dirty="0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TextBox 1"/>
          <p:cNvSpPr txBox="1">
            <a:spLocks noChangeArrowheads="1"/>
          </p:cNvSpPr>
          <p:nvPr/>
        </p:nvSpPr>
        <p:spPr bwMode="auto">
          <a:xfrm>
            <a:off x="5006975" y="1045210"/>
            <a:ext cx="1106170" cy="480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b="1" dirty="0">
                <a:solidFill>
                  <a:schemeClr val="bg1">
                    <a:lumMod val="5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+mj-cs"/>
              </a:rPr>
              <a:t>同学们下课</a:t>
            </a:r>
            <a:endParaRPr lang="zh-CN" altLang="en-US" sz="6000" b="1" dirty="0">
              <a:solidFill>
                <a:schemeClr val="bg1">
                  <a:lumMod val="50000"/>
                </a:schemeClr>
              </a:solidFill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pic>
        <p:nvPicPr>
          <p:cNvPr id="2" name="图片 1" descr="印章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9445" y="5106035"/>
            <a:ext cx="682625" cy="743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push dir="u"/>
      </p:transition>
    </mc:Choice>
    <mc:Fallback>
      <p:transition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TRACKING_SLIDES" val="1"/>
  <p:tag name="GENSWF_OUTPUT_FILE_NAME" val="33"/>
  <p:tag name="ISPRING_PRESENTATION_TITLE" val="小学五年级课件范本PPT-泊船瓜洲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1727</Words>
  <Application>WPS 演示</Application>
  <PresentationFormat>自定义</PresentationFormat>
  <Paragraphs>274</Paragraphs>
  <Slides>28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华文隶书</vt:lpstr>
      <vt:lpstr>黑体</vt:lpstr>
      <vt:lpstr>Calibri</vt:lpstr>
      <vt:lpstr>等线</vt:lpstr>
      <vt:lpstr>Arial Unicode MS</vt:lpstr>
      <vt:lpstr>等线 Light</vt:lpstr>
      <vt:lpstr>华文新魏</vt:lpstr>
      <vt:lpstr>楷体</vt:lpstr>
      <vt:lpstr>华文楷体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故人西辞黄鹤楼，烟花三月下扬州。</vt:lpstr>
      <vt:lpstr>PowerPoint 演示文稿</vt:lpstr>
      <vt:lpstr>孤帆远影碧空尽，唯见长江天际流。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熊猫办公ppt</dc:title>
  <dc:creator>tlyy</dc:creator>
  <cp:lastModifiedBy>可以</cp:lastModifiedBy>
  <cp:revision>66</cp:revision>
  <dcterms:created xsi:type="dcterms:W3CDTF">2015-12-01T09:06:00Z</dcterms:created>
  <dcterms:modified xsi:type="dcterms:W3CDTF">2021-08-17T03:06:12Z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